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27432"/>
          </a:xfrm>
          <a:prstGeom prst="rect">
            <a:avLst/>
          </a:prstGeom>
          <a:solidFill>
            <a:srgbClr val="A22B27"/>
          </a:solidFill>
          <a:ln>
            <a:solidFill>
              <a:srgbClr val="A2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ir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548640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73152"/>
            <a:ext cx="4572000" cy="530352"/>
          </a:xfrm>
          <a:prstGeom prst="rect">
            <a:avLst/>
          </a:prstGeom>
          <a:noFill/>
        </p:spPr>
        <p:txBody>
          <a:bodyPr wrap="square" lIns="0" tIns="164592" rIns="0" bIns="0">
            <a:spAutoFit/>
          </a:bodyPr>
          <a:lstStyle/>
          <a:p>
            <a:pPr>
              <a:defRPr sz="1100" b="1">
                <a:solidFill>
                  <a:srgbClr val="A22B27"/>
                </a:solidFill>
                <a:latin typeface="Arial"/>
              </a:defRPr>
            </a:pPr>
            <a:r>
              <a:t>ARTIFICIAL INTELLIGENCE RESEARCH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73152"/>
            <a:ext cx="5879592" cy="530352"/>
          </a:xfrm>
          <a:prstGeom prst="rect">
            <a:avLst/>
          </a:prstGeom>
          <a:noFill/>
        </p:spPr>
        <p:txBody>
          <a:bodyPr wrap="square" lIns="0" tIns="164592" rIns="0" bIns="0">
            <a:spAutoFit/>
          </a:bodyPr>
          <a:lstStyle/>
          <a:p>
            <a:pPr algn="r">
              <a:defRPr sz="1000" b="1">
                <a:solidFill>
                  <a:srgbClr val="2A1D1D"/>
                </a:solidFill>
                <a:latin typeface="Arial"/>
              </a:defRPr>
            </a:pPr>
            <a:r>
              <a:t>BÁO CÁO PHÂN TÍCH THIẾT KẾ HỆ THỐNG CHATBOT &amp; HÓA ĐƠN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18288"/>
          </a:xfrm>
          <a:prstGeom prst="rect">
            <a:avLst/>
          </a:prstGeom>
          <a:solidFill>
            <a:srgbClr val="A22B27"/>
          </a:solidFill>
          <a:ln>
            <a:solidFill>
              <a:srgbClr val="A2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A1D1D"/>
                </a:solidFill>
                <a:latin typeface="Arial"/>
              </a:defRPr>
            </a:pPr>
            <a:r>
              <a:t>Báo cáo phân tích thiết kế hệ thống chatbot và module hóa đơn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65392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>
                <a:solidFill>
                  <a:srgbClr val="2A1D1D"/>
                </a:solidFill>
                <a:latin typeface="Arial"/>
              </a:defRPr>
            </a:pPr>
            <a:r>
              <a:t>Slide 1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1127455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22B27"/>
                </a:solidFill>
                <a:latin typeface="Arial"/>
              </a:defRPr>
            </a:pPr>
            <a:r>
              <a:rPr dirty="0"/>
              <a:t>1. HỆ THỐNG CHATBOT TRI THỨC NỘI BỘ AIRC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4429432" cy="3411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D35400"/>
                </a:solidFill>
                <a:latin typeface="Arial"/>
              </a:defRPr>
            </a:pP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5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chức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Phân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hệ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Xác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thực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&amp; RBAC:</a:t>
            </a:r>
            <a:r>
              <a:rPr sz="1400" dirty="0">
                <a:solidFill>
                  <a:srgbClr val="2A1D1D"/>
                </a:solidFill>
                <a:latin typeface="Arial"/>
              </a:rPr>
              <a:t> Đăng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nhập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bảo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mật</a:t>
            </a:r>
            <a:r>
              <a:rPr sz="1400" dirty="0">
                <a:solidFill>
                  <a:srgbClr val="2A1D1D"/>
                </a:solidFill>
                <a:latin typeface="Arial"/>
              </a:rPr>
              <a:t> JWT,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phân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quyền</a:t>
            </a:r>
            <a:r>
              <a:rPr sz="1400" dirty="0">
                <a:solidFill>
                  <a:srgbClr val="2A1D1D"/>
                </a:solidFill>
                <a:latin typeface="Arial"/>
              </a:rPr>
              <a:t> 3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nhóm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người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dùng</a:t>
            </a:r>
            <a:r>
              <a:rPr sz="1400" dirty="0">
                <a:solidFill>
                  <a:srgbClr val="2A1D1D"/>
                </a:solidFill>
                <a:latin typeface="Arial"/>
              </a:rPr>
              <a:t> (Student, Teacher, Admin).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Phân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hệ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Quản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lý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Tri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thức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: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Tải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tài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liệu</a:t>
            </a:r>
            <a:r>
              <a:rPr sz="1400" dirty="0">
                <a:solidFill>
                  <a:srgbClr val="2A1D1D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phân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đoạn</a:t>
            </a:r>
            <a:r>
              <a:rPr sz="1400" dirty="0">
                <a:solidFill>
                  <a:srgbClr val="2A1D1D"/>
                </a:solidFill>
                <a:latin typeface="Arial"/>
              </a:rPr>
              <a:t> (Recursive Chunking)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và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lưu</a:t>
            </a:r>
            <a:r>
              <a:rPr sz="1400" dirty="0">
                <a:solidFill>
                  <a:srgbClr val="2A1D1D"/>
                </a:solidFill>
                <a:latin typeface="Arial"/>
              </a:rPr>
              <a:t> vector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vào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Qdrant</a:t>
            </a:r>
            <a:r>
              <a:rPr sz="1400" dirty="0">
                <a:solidFill>
                  <a:srgbClr val="2A1D1D"/>
                </a:solidFill>
                <a:latin typeface="Arial"/>
              </a:rPr>
              <a:t> DB.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Phân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hệ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Cấu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hình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Bot: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Điều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chỉnh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các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tham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số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top_k</a:t>
            </a:r>
            <a:r>
              <a:rPr sz="1400" dirty="0">
                <a:solidFill>
                  <a:srgbClr val="2A1D1D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similarity_threshold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và</a:t>
            </a:r>
            <a:r>
              <a:rPr sz="1400" dirty="0">
                <a:solidFill>
                  <a:srgbClr val="2A1D1D"/>
                </a:solidFill>
                <a:latin typeface="Arial"/>
              </a:rPr>
              <a:t> System Prompt.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Phân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hệ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Trò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chuyện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RAG:</a:t>
            </a:r>
            <a:r>
              <a:rPr sz="1400" dirty="0">
                <a:solidFill>
                  <a:srgbClr val="2A1D1D"/>
                </a:solidFill>
                <a:latin typeface="Arial"/>
              </a:rPr>
              <a:t> Tra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cứu</a:t>
            </a:r>
            <a:r>
              <a:rPr sz="1400" dirty="0">
                <a:solidFill>
                  <a:srgbClr val="2A1D1D"/>
                </a:solidFill>
                <a:latin typeface="Arial"/>
              </a:rPr>
              <a:t> tri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thức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nội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bộ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thời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gian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thực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bằng</a:t>
            </a:r>
            <a:r>
              <a:rPr sz="1400" dirty="0">
                <a:solidFill>
                  <a:srgbClr val="2A1D1D"/>
                </a:solidFill>
                <a:latin typeface="Arial"/>
              </a:rPr>
              <a:t> SSE,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tối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ưu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bằng</a:t>
            </a:r>
            <a:r>
              <a:rPr sz="1400" dirty="0">
                <a:solidFill>
                  <a:srgbClr val="2A1D1D"/>
                </a:solidFill>
                <a:latin typeface="Arial"/>
              </a:rPr>
              <a:t> Redis Semantic Cache.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Phân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hệ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Debug Console: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Giám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sát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độ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trễ</a:t>
            </a:r>
            <a:r>
              <a:rPr sz="1400" dirty="0">
                <a:solidFill>
                  <a:srgbClr val="2A1D1D"/>
                </a:solidFill>
                <a:latin typeface="Arial"/>
              </a:rPr>
              <a:t> (latency metrics)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và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kiểm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tra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các</a:t>
            </a:r>
            <a:r>
              <a:rPr sz="1400" dirty="0">
                <a:solidFill>
                  <a:srgbClr val="2A1D1D"/>
                </a:solidFill>
                <a:latin typeface="Arial"/>
              </a:rPr>
              <a:t> chunk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văn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bản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thô</a:t>
            </a:r>
            <a:r>
              <a:rPr sz="1400" dirty="0">
                <a:solidFill>
                  <a:srgbClr val="2A1D1D"/>
                </a:solidFill>
                <a:latin typeface="Arial"/>
              </a:rPr>
              <a:t>.</a:t>
            </a:r>
          </a:p>
        </p:txBody>
      </p:sp>
      <p:pic>
        <p:nvPicPr>
          <p:cNvPr id="12" name="Picture 11" descr="slide_rag_cha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32" y="1502861"/>
            <a:ext cx="6990736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27432"/>
          </a:xfrm>
          <a:prstGeom prst="rect">
            <a:avLst/>
          </a:prstGeom>
          <a:solidFill>
            <a:srgbClr val="A22B27"/>
          </a:solidFill>
          <a:ln>
            <a:solidFill>
              <a:srgbClr val="A2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ir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548640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73152"/>
            <a:ext cx="4572000" cy="530352"/>
          </a:xfrm>
          <a:prstGeom prst="rect">
            <a:avLst/>
          </a:prstGeom>
          <a:noFill/>
        </p:spPr>
        <p:txBody>
          <a:bodyPr wrap="square" lIns="0" tIns="164592" rIns="0" bIns="0">
            <a:spAutoFit/>
          </a:bodyPr>
          <a:lstStyle/>
          <a:p>
            <a:pPr>
              <a:defRPr sz="1100" b="1">
                <a:solidFill>
                  <a:srgbClr val="A22B27"/>
                </a:solidFill>
                <a:latin typeface="Arial"/>
              </a:defRPr>
            </a:pPr>
            <a:r>
              <a:t>ARTIFICIAL INTELLIGENCE RESEARCH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73152"/>
            <a:ext cx="5879592" cy="530352"/>
          </a:xfrm>
          <a:prstGeom prst="rect">
            <a:avLst/>
          </a:prstGeom>
          <a:noFill/>
        </p:spPr>
        <p:txBody>
          <a:bodyPr wrap="square" lIns="0" tIns="164592" rIns="0" bIns="0">
            <a:spAutoFit/>
          </a:bodyPr>
          <a:lstStyle/>
          <a:p>
            <a:pPr algn="r">
              <a:defRPr sz="1000" b="1">
                <a:solidFill>
                  <a:srgbClr val="2A1D1D"/>
                </a:solidFill>
                <a:latin typeface="Arial"/>
              </a:defRPr>
            </a:pPr>
            <a:r>
              <a:t>BÁO CÁO PHÂN TÍCH THIẾT KẾ HỆ THỐNG CHATBOT &amp; HÓA ĐƠN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18288"/>
          </a:xfrm>
          <a:prstGeom prst="rect">
            <a:avLst/>
          </a:prstGeom>
          <a:solidFill>
            <a:srgbClr val="A22B27"/>
          </a:solidFill>
          <a:ln>
            <a:solidFill>
              <a:srgbClr val="A2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A1D1D"/>
                </a:solidFill>
                <a:latin typeface="Arial"/>
              </a:defRPr>
            </a:pPr>
            <a:r>
              <a:t>Báo cáo phân tích thiết kế hệ thống chatbot và module hóa đơn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65392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>
                <a:solidFill>
                  <a:srgbClr val="2A1D1D"/>
                </a:solidFill>
                <a:latin typeface="Arial"/>
              </a:defRPr>
            </a:pPr>
            <a:r>
              <a:t>Slide 2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22B27"/>
                </a:solidFill>
                <a:latin typeface="Arial"/>
              </a:defRPr>
            </a:pPr>
            <a:r>
              <a:t>2. PHÂN TÍCH &amp; THIẾT KẾ MODULE HÓA ĐƠN MỚI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072" y="1277505"/>
            <a:ext cx="5304631" cy="1354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35400"/>
                </a:solidFill>
                <a:latin typeface="Arial"/>
              </a:defRPr>
            </a:pP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nghệ</a:t>
            </a:r>
            <a:r>
              <a:rPr dirty="0"/>
              <a:t> 3 </a:t>
            </a:r>
            <a:r>
              <a:rPr dirty="0" err="1"/>
              <a:t>lớp</a:t>
            </a:r>
            <a:r>
              <a:rPr dirty="0"/>
              <a:t>: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• Frontend:</a:t>
            </a:r>
            <a:r>
              <a:rPr sz="1400" dirty="0">
                <a:solidFill>
                  <a:srgbClr val="2A1D1D"/>
                </a:solidFill>
                <a:latin typeface="Arial"/>
              </a:rPr>
              <a:t> Next.js 14 (App Router, TypeScript, React Query).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• Backend:</a:t>
            </a:r>
            <a:r>
              <a:rPr sz="1400" dirty="0">
                <a:solidFill>
                  <a:srgbClr val="2A1D1D"/>
                </a:solidFill>
                <a:latin typeface="Arial"/>
              </a:rPr>
              <a:t> Node.js Express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với</a:t>
            </a:r>
            <a:r>
              <a:rPr sz="1400" dirty="0">
                <a:solidFill>
                  <a:srgbClr val="2A1D1D"/>
                </a:solidFill>
                <a:latin typeface="Arial"/>
              </a:rPr>
              <a:t> TypeScript,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giao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tiếp</a:t>
            </a:r>
            <a:r>
              <a:rPr sz="1400" dirty="0">
                <a:solidFill>
                  <a:srgbClr val="2A1D1D"/>
                </a:solidFill>
                <a:latin typeface="Arial"/>
              </a:rPr>
              <a:t> qua Prisma ORM.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• Database:</a:t>
            </a:r>
            <a:r>
              <a:rPr sz="1400" dirty="0">
                <a:solidFill>
                  <a:srgbClr val="2A1D1D"/>
                </a:solidFill>
                <a:latin typeface="Arial"/>
              </a:rPr>
              <a:t> PostgreSQL 16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quản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lý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dữ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liệu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tài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chính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nhất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quan</a:t>
            </a:r>
            <a:r>
              <a:rPr sz="1400" dirty="0">
                <a:solidFill>
                  <a:srgbClr val="2A1D1D"/>
                </a:solidFill>
                <a:latin typeface="Arial"/>
              </a:rPr>
              <a:t>.</a:t>
            </a:r>
          </a:p>
        </p:txBody>
      </p:sp>
      <p:pic>
        <p:nvPicPr>
          <p:cNvPr id="12" name="Picture 11" descr="slide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1"/>
            <a:ext cx="4911213" cy="3474720"/>
          </a:xfrm>
          <a:prstGeom prst="rect">
            <a:avLst/>
          </a:prstGeom>
        </p:spPr>
      </p:pic>
      <p:pic>
        <p:nvPicPr>
          <p:cNvPr id="13" name="Picture 12" descr="slide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1463040"/>
            <a:ext cx="577743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27432"/>
          </a:xfrm>
          <a:prstGeom prst="rect">
            <a:avLst/>
          </a:prstGeom>
          <a:solidFill>
            <a:srgbClr val="A22B27"/>
          </a:solidFill>
          <a:ln>
            <a:solidFill>
              <a:srgbClr val="A2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ir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548640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73152"/>
            <a:ext cx="4572000" cy="530352"/>
          </a:xfrm>
          <a:prstGeom prst="rect">
            <a:avLst/>
          </a:prstGeom>
          <a:noFill/>
        </p:spPr>
        <p:txBody>
          <a:bodyPr wrap="square" lIns="0" tIns="164592" rIns="0" bIns="0">
            <a:spAutoFit/>
          </a:bodyPr>
          <a:lstStyle/>
          <a:p>
            <a:pPr>
              <a:defRPr sz="1100" b="1">
                <a:solidFill>
                  <a:srgbClr val="A22B27"/>
                </a:solidFill>
                <a:latin typeface="Arial"/>
              </a:defRPr>
            </a:pPr>
            <a:r>
              <a:t>ARTIFICIAL INTELLIGENCE RESEARCH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73152"/>
            <a:ext cx="5879592" cy="530352"/>
          </a:xfrm>
          <a:prstGeom prst="rect">
            <a:avLst/>
          </a:prstGeom>
          <a:noFill/>
        </p:spPr>
        <p:txBody>
          <a:bodyPr wrap="square" lIns="0" tIns="164592" rIns="0" bIns="0">
            <a:spAutoFit/>
          </a:bodyPr>
          <a:lstStyle/>
          <a:p>
            <a:pPr algn="r">
              <a:defRPr sz="1000" b="1">
                <a:solidFill>
                  <a:srgbClr val="2A1D1D"/>
                </a:solidFill>
                <a:latin typeface="Arial"/>
              </a:defRPr>
            </a:pPr>
            <a:r>
              <a:t>BÁO CÁO PHÂN TÍCH THIẾT KẾ HỆ THỐNG CHATBOT &amp; HÓA ĐƠN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18288"/>
          </a:xfrm>
          <a:prstGeom prst="rect">
            <a:avLst/>
          </a:prstGeom>
          <a:solidFill>
            <a:srgbClr val="A22B27"/>
          </a:solidFill>
          <a:ln>
            <a:solidFill>
              <a:srgbClr val="A2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A1D1D"/>
                </a:solidFill>
                <a:latin typeface="Arial"/>
              </a:defRPr>
            </a:pPr>
            <a:r>
              <a:t>Báo cáo phân tích thiết kế hệ thống chatbot và module hóa đơn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65392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>
                <a:solidFill>
                  <a:srgbClr val="2A1D1D"/>
                </a:solidFill>
                <a:latin typeface="Arial"/>
              </a:defRPr>
            </a:pPr>
            <a:r>
              <a:t>Slide 3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22B27"/>
                </a:solidFill>
                <a:latin typeface="Arial"/>
              </a:defRPr>
            </a:pPr>
            <a:r>
              <a:t>3. QUY TRÌNH XỬ LÝ AI &amp; KIỂM DUYỆT CHỨNG TỪ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4419600" cy="341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D35400"/>
                </a:solidFill>
                <a:latin typeface="Arial"/>
              </a:defRPr>
            </a:pPr>
            <a:r>
              <a:rPr dirty="0"/>
              <a:t>Quy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bất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: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1.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Tải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lên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(Upload):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Kế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toán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tải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hóa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đơn</a:t>
            </a:r>
            <a:r>
              <a:rPr sz="1400" dirty="0">
                <a:solidFill>
                  <a:srgbClr val="2A1D1D"/>
                </a:solidFill>
                <a:latin typeface="Arial"/>
              </a:rPr>
              <a:t> PDF/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Ảnh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lên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hệ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thống</a:t>
            </a:r>
            <a:r>
              <a:rPr sz="1400" dirty="0">
                <a:solidFill>
                  <a:srgbClr val="2A1D1D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Ghi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nhận</a:t>
            </a:r>
            <a:r>
              <a:rPr sz="1400" dirty="0">
                <a:solidFill>
                  <a:srgbClr val="2A1D1D"/>
                </a:solidFill>
                <a:latin typeface="Arial"/>
              </a:rPr>
              <a:t> File ở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trạng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thái</a:t>
            </a:r>
            <a:r>
              <a:rPr sz="1400" dirty="0">
                <a:solidFill>
                  <a:srgbClr val="2A1D1D"/>
                </a:solidFill>
                <a:latin typeface="Arial"/>
              </a:rPr>
              <a:t> PENDING.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2.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Xử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lý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ngầm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(Extract):</a:t>
            </a:r>
            <a:r>
              <a:rPr sz="1400" dirty="0">
                <a:solidFill>
                  <a:srgbClr val="2A1D1D"/>
                </a:solidFill>
                <a:latin typeface="Arial"/>
              </a:rPr>
              <a:t> Backend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gửi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yêu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cầu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trích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xuất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dữ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liệu</a:t>
            </a:r>
            <a:r>
              <a:rPr sz="1400" dirty="0">
                <a:solidFill>
                  <a:srgbClr val="2A1D1D"/>
                </a:solidFill>
                <a:latin typeface="Arial"/>
              </a:rPr>
              <a:t> sang AI Engine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chạy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ngầm</a:t>
            </a:r>
            <a:r>
              <a:rPr sz="1400" dirty="0">
                <a:solidFill>
                  <a:srgbClr val="2A1D1D"/>
                </a:solidFill>
                <a:latin typeface="Arial"/>
              </a:rPr>
              <a:t> (background worker).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3.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Kiểm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duyệt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(Review):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Dữ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liệu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cấu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trúc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trả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về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được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lưu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vào</a:t>
            </a:r>
            <a:r>
              <a:rPr sz="1400" dirty="0">
                <a:solidFill>
                  <a:srgbClr val="2A1D1D"/>
                </a:solidFill>
                <a:latin typeface="Arial"/>
              </a:rPr>
              <a:t> DB. File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đổi</a:t>
            </a:r>
            <a:r>
              <a:rPr sz="1400" dirty="0">
                <a:solidFill>
                  <a:srgbClr val="2A1D1D"/>
                </a:solidFill>
                <a:latin typeface="Arial"/>
              </a:rPr>
              <a:t> sang NEEDS_REVIEW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để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kế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toán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đối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soát</a:t>
            </a:r>
            <a:r>
              <a:rPr sz="1400" dirty="0">
                <a:solidFill>
                  <a:srgbClr val="2A1D1D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22B27"/>
                </a:solidFill>
                <a:latin typeface="Arial"/>
              </a:rPr>
              <a:t>4.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Khóa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A22B27"/>
                </a:solidFill>
                <a:latin typeface="Arial"/>
              </a:rPr>
              <a:t>sổ</a:t>
            </a:r>
            <a:r>
              <a:rPr sz="1400" b="1" dirty="0">
                <a:solidFill>
                  <a:srgbClr val="A22B27"/>
                </a:solidFill>
                <a:latin typeface="Arial"/>
              </a:rPr>
              <a:t> (Approve):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Kế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toán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hiệu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chỉnh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các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trường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dữ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liệu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sai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lệch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nếu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có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và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bấm</a:t>
            </a:r>
            <a:r>
              <a:rPr sz="1400" dirty="0">
                <a:solidFill>
                  <a:srgbClr val="2A1D1D"/>
                </a:solidFill>
                <a:latin typeface="Arial"/>
              </a:rPr>
              <a:t> Approve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để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cập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nhật</a:t>
            </a:r>
            <a:r>
              <a:rPr sz="1400" dirty="0">
                <a:solidFill>
                  <a:srgbClr val="2A1D1D"/>
                </a:solidFill>
                <a:latin typeface="Arial"/>
              </a:rPr>
              <a:t> COMPLETED &amp;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khóa</a:t>
            </a:r>
            <a:r>
              <a:rPr sz="1400" dirty="0">
                <a:solidFill>
                  <a:srgbClr val="2A1D1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A1D1D"/>
                </a:solidFill>
                <a:latin typeface="Arial"/>
              </a:rPr>
              <a:t>sổ</a:t>
            </a:r>
            <a:r>
              <a:rPr sz="1400" dirty="0">
                <a:solidFill>
                  <a:srgbClr val="2A1D1D"/>
                </a:solidFill>
                <a:latin typeface="Arial"/>
              </a:rPr>
              <a:t>.</a:t>
            </a:r>
          </a:p>
        </p:txBody>
      </p:sp>
      <p:pic>
        <p:nvPicPr>
          <p:cNvPr id="12" name="Picture 11" descr="slide_sequenc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787" y="1463040"/>
            <a:ext cx="6925843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438</Words>
  <Application>Microsoft Office PowerPoint</Application>
  <PresentationFormat>Tùy chỉnh</PresentationFormat>
  <Paragraphs>30</Paragraphs>
  <Slides>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Đăng Lê Hải</cp:lastModifiedBy>
  <cp:revision>2</cp:revision>
  <dcterms:created xsi:type="dcterms:W3CDTF">2013-01-27T09:14:16Z</dcterms:created>
  <dcterms:modified xsi:type="dcterms:W3CDTF">2026-07-13T02:36:48Z</dcterms:modified>
  <cp:category/>
</cp:coreProperties>
</file>